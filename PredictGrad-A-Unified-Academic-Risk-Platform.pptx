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Instrument Sans Medium" panose="020B0604020202020204" charset="0"/>
      <p:regular r:id="rId8"/>
    </p:embeddedFont>
    <p:embeddedFont>
      <p:font typeface="Instrument Sans Semi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20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thepredictgrad.streamlit.app/" TargetMode="External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241" y="615672"/>
            <a:ext cx="13065919" cy="1734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00"/>
              </a:lnSpc>
              <a:buNone/>
            </a:pPr>
            <a:r>
              <a:rPr lang="en-US" sz="5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PredictGrad – A Unified Academic Risk Platform</a:t>
            </a:r>
            <a:endParaRPr lang="en-US" sz="5450" dirty="0"/>
          </a:p>
        </p:txBody>
      </p:sp>
      <p:sp>
        <p:nvSpPr>
          <p:cNvPr id="3" name="Text 1"/>
          <p:cNvSpPr/>
          <p:nvPr/>
        </p:nvSpPr>
        <p:spPr>
          <a:xfrm>
            <a:off x="782241" y="2752963"/>
            <a:ext cx="13065919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PredictGrad</a:t>
            </a: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is a smart academic intelligence system built to: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82241" y="3301127"/>
            <a:ext cx="452557" cy="452557"/>
          </a:xfrm>
          <a:prstGeom prst="roundRect">
            <a:avLst>
              <a:gd name="adj" fmla="val 40006"/>
            </a:avLst>
          </a:prstGeom>
          <a:solidFill>
            <a:srgbClr val="CEE6F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07" y="3338810"/>
            <a:ext cx="301704" cy="3770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5894" y="3366492"/>
            <a:ext cx="3534013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Predict future performance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221248" y="3301127"/>
            <a:ext cx="452557" cy="452557"/>
          </a:xfrm>
          <a:prstGeom prst="roundRect">
            <a:avLst>
              <a:gd name="adj" fmla="val 40006"/>
            </a:avLst>
          </a:prstGeom>
          <a:solidFill>
            <a:srgbClr val="CEE6FD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6614" y="3338810"/>
            <a:ext cx="301704" cy="3770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74901" y="3366492"/>
            <a:ext cx="353413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Analyze attendance-performance patterns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9660374" y="3301127"/>
            <a:ext cx="452557" cy="452557"/>
          </a:xfrm>
          <a:prstGeom prst="roundRect">
            <a:avLst>
              <a:gd name="adj" fmla="val 40006"/>
            </a:avLst>
          </a:prstGeom>
          <a:solidFill>
            <a:srgbClr val="CEE6FD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5741" y="3338810"/>
            <a:ext cx="301704" cy="3770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14027" y="3366492"/>
            <a:ext cx="3534013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Detect academic risk proactively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82241" y="4236601"/>
            <a:ext cx="13065919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 combines: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782241" y="4784765"/>
            <a:ext cx="6432352" cy="1204793"/>
          </a:xfrm>
          <a:prstGeom prst="roundRect">
            <a:avLst>
              <a:gd name="adj" fmla="val 9108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59381" y="4784765"/>
            <a:ext cx="91440" cy="1204793"/>
          </a:xfrm>
          <a:prstGeom prst="roundRect">
            <a:avLst>
              <a:gd name="adj" fmla="val 197997"/>
            </a:avLst>
          </a:prstGeom>
          <a:solidFill>
            <a:srgbClr val="84C1FA"/>
          </a:solidFill>
          <a:ln/>
        </p:spPr>
      </p:sp>
      <p:sp>
        <p:nvSpPr>
          <p:cNvPr id="16" name="Text 11"/>
          <p:cNvSpPr/>
          <p:nvPr/>
        </p:nvSpPr>
        <p:spPr>
          <a:xfrm>
            <a:off x="1074777" y="5008721"/>
            <a:ext cx="251448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Predictive Modeling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1074777" y="5443657"/>
            <a:ext cx="5915858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(Semester 3 marks forecasting &amp; risk classification)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415689" y="4784765"/>
            <a:ext cx="6432471" cy="1204793"/>
          </a:xfrm>
          <a:prstGeom prst="roundRect">
            <a:avLst>
              <a:gd name="adj" fmla="val 9108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92829" y="4784765"/>
            <a:ext cx="91440" cy="1204793"/>
          </a:xfrm>
          <a:prstGeom prst="roundRect">
            <a:avLst>
              <a:gd name="adj" fmla="val 197997"/>
            </a:avLst>
          </a:prstGeom>
          <a:solidFill>
            <a:srgbClr val="84C1FA"/>
          </a:solidFill>
          <a:ln/>
        </p:spPr>
      </p:sp>
      <p:sp>
        <p:nvSpPr>
          <p:cNvPr id="20" name="Text 15"/>
          <p:cNvSpPr/>
          <p:nvPr/>
        </p:nvSpPr>
        <p:spPr>
          <a:xfrm>
            <a:off x="7708225" y="5008721"/>
            <a:ext cx="251448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Analytical Insight</a:t>
            </a:r>
            <a:endParaRPr lang="en-US" sz="1950" dirty="0"/>
          </a:p>
        </p:txBody>
      </p:sp>
      <p:sp>
        <p:nvSpPr>
          <p:cNvPr id="21" name="Text 16"/>
          <p:cNvSpPr/>
          <p:nvPr/>
        </p:nvSpPr>
        <p:spPr>
          <a:xfrm>
            <a:off x="7708225" y="5443657"/>
            <a:ext cx="5915978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(correlation between attendance and performance)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782241" y="6291263"/>
            <a:ext cx="3017401" cy="37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It Matters:</a:t>
            </a:r>
            <a:endParaRPr lang="en-US" sz="2350" dirty="0"/>
          </a:p>
        </p:txBody>
      </p:sp>
      <p:sp>
        <p:nvSpPr>
          <p:cNvPr id="23" name="Text 18"/>
          <p:cNvSpPr/>
          <p:nvPr/>
        </p:nvSpPr>
        <p:spPr>
          <a:xfrm>
            <a:off x="782241" y="6970038"/>
            <a:ext cx="13065919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Academic declines often go unnoticed. PredictGrad detects subtle warning signs before they become problems — enabling </a:t>
            </a: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timely intervention</a:t>
            </a: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informed support</a:t>
            </a: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and </a:t>
            </a: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data-backed decision-making</a:t>
            </a: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5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B1E374F-DCB8-DC6B-ACAE-07893746DD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72607" y="7691763"/>
            <a:ext cx="2457793" cy="4477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2644" y="1802725"/>
            <a:ext cx="4624149" cy="46241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0663" y="109394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Team Members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10663" y="2012999"/>
            <a:ext cx="3501509" cy="1478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AutoNum type="arabicPeriod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PANCHAL DEV SACHINKUMAR 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23002170510023</a:t>
            </a:r>
            <a:b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</a:b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</a:rPr>
              <a:t>AIDS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10663" y="3699078"/>
            <a:ext cx="3501509" cy="1371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2.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BHATT MAHARSHI JIGNESHBHAI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b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</a:b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23002170110010</a:t>
            </a:r>
            <a:b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</a:b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93790" y="5387697"/>
            <a:ext cx="3501509" cy="1478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3.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BALESANA HASSANBHAI YUNUSBHAI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b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</a:b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23002170110003</a:t>
            </a:r>
            <a:b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</a:b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790171" y="2946990"/>
            <a:ext cx="3501509" cy="147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4.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PANCHAL NITYAKUMAR ALPESHKUMAR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23002170510024</a:t>
            </a:r>
            <a:b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</a:b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AIDS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790170" y="4843343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5.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MISTRY ANJALI KALPESHBHAI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23002170110090</a:t>
            </a:r>
            <a:b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</a:b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7663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Prediction Module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1515785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Objective: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Predict theory marks in Semester 3 &amp; detect potential academic decline.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078236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Workflow: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93790" y="2690574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93790" y="2976086"/>
            <a:ext cx="7556421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8" name="Text 5"/>
          <p:cNvSpPr/>
          <p:nvPr/>
        </p:nvSpPr>
        <p:spPr>
          <a:xfrm>
            <a:off x="793790" y="311253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Mark Prediction: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3504843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Subjects: Math-3, DE, FSD, Python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3790" y="3858578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Features: Past marks, attendance, percentile trends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3790" y="4212312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Models: Ridge, Lasso, ElasticNet (Voting Regressor)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3790" y="4820126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93790" y="5105638"/>
            <a:ext cx="7556421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4" name="Text 11"/>
          <p:cNvSpPr/>
          <p:nvPr/>
        </p:nvSpPr>
        <p:spPr>
          <a:xfrm>
            <a:off x="793790" y="524208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Risk Classification: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93790" y="5634395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Condition: Drop ≥10 percentile points vs. Sem 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3790" y="5988129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Classifier: Stacked Model (CatBoost, LGBM, ExtraTrees → Logistic Regression)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93790" y="6341864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Tuning: BayesSearchCV, Repeated K-Fold CV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93790" y="6972300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Output: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📉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Flags students </a:t>
            </a:r>
            <a:r>
              <a:rPr lang="en-US" sz="14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 risk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of significant academic drop — </a:t>
            </a:r>
            <a:r>
              <a:rPr lang="en-US" sz="14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before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Semester 3 begins.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975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Analysis Module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721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Objective: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Correlate subject-wise attendance with academic performance to guide improvements.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7522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Features:</a:t>
            </a:r>
            <a:endParaRPr lang="en-US" sz="2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40681"/>
            <a:ext cx="566976" cy="566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4253" y="36753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Correlation Reports: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44253" y="4165759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Attendance vs. Marks (Theory + Practical)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3540681"/>
            <a:ext cx="566976" cy="5669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07348" y="36753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Statistical Analysis: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307348" y="4165759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Skewness, Std Dev, IQR, Mean-Median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095637"/>
            <a:ext cx="566976" cy="5669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44253" y="52302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Diagnostic Output: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644253" y="5720715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Actionable feedback on attendance impact</a:t>
            </a:r>
            <a:endParaRPr lang="en-US" sz="1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5095637"/>
            <a:ext cx="566976" cy="5669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307348" y="52302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Insight Visuals: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8307348" y="5720715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Histograms, heatmaps, and distribution plots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793790" y="63387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793790" y="69568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Outcome: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Reveals hidden trends that may affect marks and enables faculty to take </a:t>
            </a: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evidence-based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actions.</a:t>
            </a:r>
            <a:endParaRPr lang="en-US" sz="17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29CAC9D-F3E4-D03B-AB16-41609623C9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72607" y="7669855"/>
            <a:ext cx="2457793" cy="4477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7937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Impact &amp; Exploration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634490"/>
            <a:ext cx="412873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PredictGrad Enables: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93790" y="2361605"/>
            <a:ext cx="4203978" cy="1982153"/>
          </a:xfrm>
          <a:prstGeom prst="roundRect">
            <a:avLst>
              <a:gd name="adj" fmla="val 9784"/>
            </a:avLst>
          </a:prstGeom>
          <a:solidFill>
            <a:srgbClr val="CEE6FD"/>
          </a:solidFill>
          <a:ln/>
        </p:spPr>
      </p:sp>
      <p:sp>
        <p:nvSpPr>
          <p:cNvPr id="5" name="Shape 3"/>
          <p:cNvSpPr/>
          <p:nvPr/>
        </p:nvSpPr>
        <p:spPr>
          <a:xfrm>
            <a:off x="1009174" y="2576989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84C1F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934" y="2718316"/>
            <a:ext cx="290870" cy="3636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9174" y="3438763"/>
            <a:ext cx="377321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Forecast future academic performance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213152" y="2361605"/>
            <a:ext cx="4203978" cy="1982153"/>
          </a:xfrm>
          <a:prstGeom prst="roundRect">
            <a:avLst>
              <a:gd name="adj" fmla="val 9784"/>
            </a:avLst>
          </a:prstGeom>
          <a:solidFill>
            <a:srgbClr val="CEE6FD"/>
          </a:solidFill>
          <a:ln/>
        </p:spPr>
      </p:sp>
      <p:sp>
        <p:nvSpPr>
          <p:cNvPr id="9" name="Shape 6"/>
          <p:cNvSpPr/>
          <p:nvPr/>
        </p:nvSpPr>
        <p:spPr>
          <a:xfrm>
            <a:off x="5428536" y="2576989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84C1F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296" y="2718316"/>
            <a:ext cx="290870" cy="3636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8536" y="3438763"/>
            <a:ext cx="377321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Detect early signs of risk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9632513" y="2361605"/>
            <a:ext cx="4203978" cy="1982153"/>
          </a:xfrm>
          <a:prstGeom prst="roundRect">
            <a:avLst>
              <a:gd name="adj" fmla="val 9784"/>
            </a:avLst>
          </a:prstGeom>
          <a:solidFill>
            <a:srgbClr val="CEE6FD"/>
          </a:solidFill>
          <a:ln/>
        </p:spPr>
      </p:sp>
      <p:sp>
        <p:nvSpPr>
          <p:cNvPr id="13" name="Shape 9"/>
          <p:cNvSpPr/>
          <p:nvPr/>
        </p:nvSpPr>
        <p:spPr>
          <a:xfrm>
            <a:off x="9847898" y="2576989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84C1F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5658" y="2718316"/>
            <a:ext cx="290870" cy="36361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47898" y="3438763"/>
            <a:ext cx="377321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Guide interventions before results fall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793790" y="4559141"/>
            <a:ext cx="6413659" cy="1637348"/>
          </a:xfrm>
          <a:prstGeom prst="roundRect">
            <a:avLst>
              <a:gd name="adj" fmla="val 11845"/>
            </a:avLst>
          </a:prstGeom>
          <a:solidFill>
            <a:srgbClr val="CEE6FD"/>
          </a:solidFill>
          <a:ln/>
        </p:spPr>
      </p:sp>
      <p:sp>
        <p:nvSpPr>
          <p:cNvPr id="17" name="Shape 12"/>
          <p:cNvSpPr/>
          <p:nvPr/>
        </p:nvSpPr>
        <p:spPr>
          <a:xfrm>
            <a:off x="1009174" y="4774525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84C1F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6934" y="4915853"/>
            <a:ext cx="290870" cy="36361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9174" y="5636300"/>
            <a:ext cx="598289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Correlate attendance with outcomes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7422833" y="4559141"/>
            <a:ext cx="6413659" cy="1637348"/>
          </a:xfrm>
          <a:prstGeom prst="roundRect">
            <a:avLst>
              <a:gd name="adj" fmla="val 11845"/>
            </a:avLst>
          </a:prstGeom>
          <a:solidFill>
            <a:srgbClr val="CEE6FD"/>
          </a:solidFill>
          <a:ln/>
        </p:spPr>
      </p:sp>
      <p:sp>
        <p:nvSpPr>
          <p:cNvPr id="21" name="Shape 15"/>
          <p:cNvSpPr/>
          <p:nvPr/>
        </p:nvSpPr>
        <p:spPr>
          <a:xfrm>
            <a:off x="7638217" y="4774525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84C1F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5977" y="4915853"/>
            <a:ext cx="290870" cy="36361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38217" y="5636300"/>
            <a:ext cx="598289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Visualize trends through dashboards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793790" y="6519624"/>
            <a:ext cx="7372469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Try It Live: </a:t>
            </a:r>
            <a:r>
              <a:rPr lang="en-US" sz="2500" dirty="0" err="1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  <a:hlinkClick r:id="rId8"/>
              </a:rPr>
              <a:t>ThePredictGrad</a:t>
            </a:r>
            <a:endParaRPr lang="en-US" sz="2500" dirty="0"/>
          </a:p>
        </p:txBody>
      </p:sp>
      <p:sp>
        <p:nvSpPr>
          <p:cNvPr id="25" name="Text 18"/>
          <p:cNvSpPr/>
          <p:nvPr/>
        </p:nvSpPr>
        <p:spPr>
          <a:xfrm>
            <a:off x="793790" y="7246739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Result:</a:t>
            </a: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 complete academic support tool to protect students from unexpected decline — before it's too late.</a:t>
            </a:r>
            <a:endParaRPr lang="en-US" sz="16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A3E78B7-4B50-E50A-64A2-FCF5598C5A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72607" y="7690811"/>
            <a:ext cx="2457793" cy="4477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362</Words>
  <Application>Microsoft Office PowerPoint</Application>
  <PresentationFormat>Custom</PresentationFormat>
  <Paragraphs>58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Instrument Sans Semi Bold</vt:lpstr>
      <vt:lpstr>Instrument Sans Light</vt:lpstr>
      <vt:lpstr>Instrument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 Panchal</dc:creator>
  <cp:lastModifiedBy>Dev Panchal</cp:lastModifiedBy>
  <cp:revision>3</cp:revision>
  <dcterms:created xsi:type="dcterms:W3CDTF">2025-08-06T13:15:56Z</dcterms:created>
  <dcterms:modified xsi:type="dcterms:W3CDTF">2025-08-07T06:33:13Z</dcterms:modified>
</cp:coreProperties>
</file>